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</p:sldIdLst>
  <p:sldSz cx="12192000" cy="6858000"/>
  <p:notesSz cx="6858000" cy="9144000"/>
  <p:embeddedFontLst>
    <p:embeddedFont>
      <p:font typeface="Urbanist" panose="02020500000000000000" charset="0"/>
      <p:regular r:id="rId10"/>
      <p:bold r:id="rId11"/>
      <p:italic r:id="rId12"/>
      <p:boldItalic r:id="rId13"/>
    </p:embeddedFont>
    <p:embeddedFont>
      <p:font typeface="Urbanist Light" panose="02020500000000000000" charset="0"/>
      <p:regular r:id="rId14"/>
      <p:bold r:id="rId15"/>
      <p:italic r:id="rId16"/>
      <p:boldItalic r:id="rId17"/>
    </p:embeddedFont>
    <p:embeddedFont>
      <p:font typeface="Urbanist Medium" panose="02020500000000000000" charset="0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12.fntdata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23" Type="http://schemas.openxmlformats.org/officeDocument/2006/relationships/viewProps" Target="viewProps.xml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>
          <a:extLst>
            <a:ext uri="{FF2B5EF4-FFF2-40B4-BE49-F238E27FC236}">
              <a16:creationId xmlns:a16="http://schemas.microsoft.com/office/drawing/2014/main" id="{7BD5840F-9CD3-F18E-F094-E030570817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5:notes">
            <a:extLst>
              <a:ext uri="{FF2B5EF4-FFF2-40B4-BE49-F238E27FC236}">
                <a16:creationId xmlns:a16="http://schemas.microsoft.com/office/drawing/2014/main" id="{DE908BEA-041A-172B-8581-49DD7A53CD6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5:notes">
            <a:extLst>
              <a:ext uri="{FF2B5EF4-FFF2-40B4-BE49-F238E27FC236}">
                <a16:creationId xmlns:a16="http://schemas.microsoft.com/office/drawing/2014/main" id="{DCBF42E1-A71F-C7C5-4A9F-65FDF5FFDB6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564872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5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00312" y="2087909"/>
            <a:ext cx="7191375" cy="2682031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2720578" y="2468909"/>
            <a:ext cx="6750843" cy="9371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1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AI 遊戲開發新紀元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881312" y="3596580"/>
            <a:ext cx="6429375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DAFFDE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Project "GAME1"：利用 Copilot 重塑開發流程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350740"/>
            <a:ext cx="3492549" cy="3662957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350740"/>
            <a:ext cx="3492549" cy="3662957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350740"/>
            <a:ext cx="3492549" cy="3662957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784223" y="3684240"/>
            <a:ext cx="3067102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0" i="0" u="none" strike="noStrike" cap="none">
                <a:solidFill>
                  <a:srgbClr val="DAFFDE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極速原型製作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857250" y="4360515"/>
            <a:ext cx="2921049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利用 AI 自動生成基礎代碼，將原本需要數小時的架構搭建縮短至分鐘級別。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4562523" y="3684240"/>
            <a:ext cx="3067102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0" i="0" u="none" strike="noStrike" cap="none">
                <a:solidFill>
                  <a:srgbClr val="DAFFDE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降低技術門檻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4635549" y="4360515"/>
            <a:ext cx="2921049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讓設計師能透過自然語言直接參與邏輯編寫，縮短創意與代碼之間的距離。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8340822" y="3684240"/>
            <a:ext cx="3067102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0" i="0" u="none" strike="noStrike" cap="none">
                <a:solidFill>
                  <a:srgbClr val="DAFFDE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實時智慧調試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8413849" y="4360515"/>
            <a:ext cx="2921049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自動掃描代碼缺陷並提供修復建議，顯著提升遊戲運行的穩定性。</a:t>
            </a:r>
            <a:endParaRPr/>
          </a:p>
        </p:txBody>
      </p:sp>
      <p:pic>
        <p:nvPicPr>
          <p:cNvPr id="102" name="Google Shape;102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089100" y="2769840"/>
            <a:ext cx="457200" cy="523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34062" y="2769840"/>
            <a:ext cx="523875" cy="523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612362" y="2769840"/>
            <a:ext cx="523875" cy="523875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809625" y="982563"/>
            <a:ext cx="11351418" cy="71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Microsoft Copilot 的核心優勢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571500" y="982563"/>
            <a:ext cx="95250" cy="71437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605548"/>
            <a:ext cx="5238750" cy="3189968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5"/>
          <p:cNvSpPr txBox="1"/>
          <p:nvPr/>
        </p:nvSpPr>
        <p:spPr>
          <a:xfrm>
            <a:off x="571500" y="2676673"/>
            <a:ext cx="5500687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0" i="0" u="none" strike="noStrike" cap="none">
                <a:solidFill>
                  <a:srgbClr val="DAFFDE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Prompt 指引開發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571500" y="3352948"/>
            <a:ext cx="5238750" cy="1218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在 VS Code </a:t>
            </a:r>
            <a:r>
              <a:rPr lang="en-US" sz="165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中使用註釋描述遊戲行為（例如</a:t>
            </a:r>
            <a:r>
              <a:rPr lang="en-US" sz="165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：「</a:t>
            </a:r>
            <a:r>
              <a:rPr lang="en-US" sz="165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創建一個具有重力感應的</a:t>
            </a:r>
            <a:r>
              <a:rPr lang="en-US" sz="165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2D </a:t>
            </a:r>
            <a:r>
              <a:rPr lang="en-US" sz="165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角色控制器</a:t>
            </a:r>
            <a:r>
              <a:rPr lang="en-US" sz="165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」），Copilot </a:t>
            </a:r>
            <a:r>
              <a:rPr lang="en-US" sz="165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會立即生成對應的</a:t>
            </a:r>
            <a:r>
              <a:rPr lang="en-US" sz="165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65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腳本</a:t>
            </a:r>
            <a:r>
              <a:rPr lang="en-US" sz="165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。</a:t>
            </a:r>
            <a:endParaRPr dirty="0"/>
          </a:p>
        </p:txBody>
      </p:sp>
      <p:pic>
        <p:nvPicPr>
          <p:cNvPr id="115" name="Google Shape;115;p1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19850" y="2743959"/>
            <a:ext cx="5200650" cy="2876519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/>
        </p:nvSpPr>
        <p:spPr>
          <a:xfrm>
            <a:off x="571500" y="4567981"/>
            <a:ext cx="52387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8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提供明確的上下文與約束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571500" y="5046017"/>
            <a:ext cx="52387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8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進行增量式的功能構建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571500" y="5489040"/>
            <a:ext cx="52387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8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透過對話修正邊界案例</a:t>
            </a:r>
            <a:endParaRPr/>
          </a:p>
        </p:txBody>
      </p:sp>
      <p:pic>
        <p:nvPicPr>
          <p:cNvPr id="119" name="Google Shape;119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620369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5098405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5576441"/>
            <a:ext cx="20955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809625" y="982563"/>
            <a:ext cx="11351418" cy="71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實踐方法：從語言到邏輯</a:t>
            </a:r>
            <a:endParaRPr/>
          </a:p>
        </p:txBody>
      </p:sp>
      <p:sp>
        <p:nvSpPr>
          <p:cNvPr id="123" name="Google Shape;123;p15"/>
          <p:cNvSpPr/>
          <p:nvPr/>
        </p:nvSpPr>
        <p:spPr>
          <a:xfrm>
            <a:off x="571500" y="982563"/>
            <a:ext cx="95250" cy="71437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/>
          <p:nvPr/>
        </p:nvSpPr>
        <p:spPr>
          <a:xfrm>
            <a:off x="1672530" y="4639419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DEFF9A"/>
          </a:solidFill>
          <a:ln w="47625" cap="flat" cmpd="sng">
            <a:solidFill>
              <a:srgbClr val="05050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6"/>
          <p:cNvSpPr/>
          <p:nvPr/>
        </p:nvSpPr>
        <p:spPr>
          <a:xfrm>
            <a:off x="4545210" y="4639419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DEFF9A"/>
          </a:solidFill>
          <a:ln w="47625" cap="flat" cmpd="sng">
            <a:solidFill>
              <a:srgbClr val="05050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6"/>
          <p:cNvSpPr/>
          <p:nvPr/>
        </p:nvSpPr>
        <p:spPr>
          <a:xfrm>
            <a:off x="7417891" y="4639419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DEFF9A"/>
          </a:solidFill>
          <a:ln w="47625" cap="flat" cmpd="sng">
            <a:solidFill>
              <a:srgbClr val="05050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6"/>
          <p:cNvSpPr/>
          <p:nvPr/>
        </p:nvSpPr>
        <p:spPr>
          <a:xfrm>
            <a:off x="10290571" y="4639419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DEFF9A"/>
          </a:solidFill>
          <a:ln w="47625" cap="flat" cmpd="sng">
            <a:solidFill>
              <a:srgbClr val="05050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6"/>
          <p:cNvSpPr/>
          <p:nvPr/>
        </p:nvSpPr>
        <p:spPr>
          <a:xfrm>
            <a:off x="571500" y="4753719"/>
            <a:ext cx="11049000" cy="190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6"/>
          <p:cNvSpPr txBox="1"/>
          <p:nvPr/>
        </p:nvSpPr>
        <p:spPr>
          <a:xfrm>
            <a:off x="510733" y="5443909"/>
            <a:ext cx="2552193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0" i="0" u="none" strike="noStrike" cap="none" dirty="0">
                <a:solidFill>
                  <a:srgbClr val="DAFFDE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1. </a:t>
            </a:r>
            <a:r>
              <a:rPr lang="en-US" sz="2550" b="0" i="0" u="none" strike="noStrike" cap="none" dirty="0" err="1">
                <a:solidFill>
                  <a:srgbClr val="DAFFDE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需求定義</a:t>
            </a:r>
            <a:endParaRPr dirty="0"/>
          </a:p>
        </p:txBody>
      </p:sp>
      <p:sp>
        <p:nvSpPr>
          <p:cNvPr id="135" name="Google Shape;135;p16"/>
          <p:cNvSpPr txBox="1"/>
          <p:nvPr/>
        </p:nvSpPr>
        <p:spPr>
          <a:xfrm>
            <a:off x="685800" y="5910634"/>
            <a:ext cx="2430660" cy="437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使用自然語言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5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65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勾勒遊戲規則</a:t>
            </a:r>
            <a:endParaRPr dirty="0"/>
          </a:p>
        </p:txBody>
      </p:sp>
      <p:sp>
        <p:nvSpPr>
          <p:cNvPr id="136" name="Google Shape;136;p16"/>
          <p:cNvSpPr txBox="1"/>
          <p:nvPr/>
        </p:nvSpPr>
        <p:spPr>
          <a:xfrm>
            <a:off x="3383413" y="2530822"/>
            <a:ext cx="2552193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0" i="0" u="none" strike="noStrike" cap="none">
                <a:solidFill>
                  <a:srgbClr val="DAFFDE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2. 代碼生成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3444180" y="3207097"/>
            <a:ext cx="243066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Copilot 輔助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完成核心邏輯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6256093" y="5510957"/>
            <a:ext cx="2552193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0" i="0" u="none" strike="noStrike" cap="none" dirty="0">
                <a:solidFill>
                  <a:srgbClr val="DAFFDE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3. </a:t>
            </a:r>
            <a:r>
              <a:rPr lang="en-US" sz="2550" b="0" i="0" u="none" strike="noStrike" cap="none" dirty="0" err="1">
                <a:solidFill>
                  <a:srgbClr val="DAFFDE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驗證與測試</a:t>
            </a:r>
            <a:endParaRPr dirty="0"/>
          </a:p>
        </p:txBody>
      </p:sp>
      <p:sp>
        <p:nvSpPr>
          <p:cNvPr id="139" name="Google Shape;139;p16"/>
          <p:cNvSpPr txBox="1"/>
          <p:nvPr/>
        </p:nvSpPr>
        <p:spPr>
          <a:xfrm>
            <a:off x="6316859" y="5910633"/>
            <a:ext cx="2430660" cy="437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AI </a:t>
            </a:r>
            <a:r>
              <a:rPr lang="en-US" sz="165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自動生成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5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65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單元測試用例</a:t>
            </a:r>
            <a:endParaRPr dirty="0"/>
          </a:p>
        </p:txBody>
      </p:sp>
      <p:sp>
        <p:nvSpPr>
          <p:cNvPr id="140" name="Google Shape;140;p16"/>
          <p:cNvSpPr txBox="1"/>
          <p:nvPr/>
        </p:nvSpPr>
        <p:spPr>
          <a:xfrm>
            <a:off x="9128774" y="2530822"/>
            <a:ext cx="2552193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0" i="0" u="none" strike="noStrike" cap="none">
                <a:solidFill>
                  <a:srgbClr val="DAFFDE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4. 優化疊代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9189541" y="3207097"/>
            <a:ext cx="243066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重構冗餘代碼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提升性能表現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809625" y="982563"/>
            <a:ext cx="11351418" cy="71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智能開發生命週期</a:t>
            </a:r>
            <a:endParaRPr/>
          </a:p>
        </p:txBody>
      </p:sp>
      <p:sp>
        <p:nvSpPr>
          <p:cNvPr id="143" name="Google Shape;143;p16"/>
          <p:cNvSpPr/>
          <p:nvPr/>
        </p:nvSpPr>
        <p:spPr>
          <a:xfrm>
            <a:off x="571500" y="982563"/>
            <a:ext cx="95250" cy="71437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84200" y="3029694"/>
            <a:ext cx="2857500" cy="2305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667101" y="3029694"/>
            <a:ext cx="2857500" cy="2305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350001" y="3029694"/>
            <a:ext cx="2857500" cy="230505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7"/>
          <p:cNvSpPr txBox="1"/>
          <p:nvPr/>
        </p:nvSpPr>
        <p:spPr>
          <a:xfrm>
            <a:off x="1365200" y="3410694"/>
            <a:ext cx="2095500" cy="104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45%</a:t>
            </a:r>
            <a:endParaRPr/>
          </a:p>
        </p:txBody>
      </p:sp>
      <p:sp>
        <p:nvSpPr>
          <p:cNvPr id="153" name="Google Shape;153;p17"/>
          <p:cNvSpPr txBox="1"/>
          <p:nvPr/>
        </p:nvSpPr>
        <p:spPr>
          <a:xfrm>
            <a:off x="1365200" y="4601319"/>
            <a:ext cx="2095500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總開發時間節省</a:t>
            </a:r>
            <a:endParaRPr/>
          </a:p>
        </p:txBody>
      </p:sp>
      <p:sp>
        <p:nvSpPr>
          <p:cNvPr id="154" name="Google Shape;154;p17"/>
          <p:cNvSpPr txBox="1"/>
          <p:nvPr/>
        </p:nvSpPr>
        <p:spPr>
          <a:xfrm>
            <a:off x="5048101" y="3410694"/>
            <a:ext cx="2095500" cy="104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60%</a:t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5048101" y="4601319"/>
            <a:ext cx="2095500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語法錯誤率降低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8731001" y="3410694"/>
            <a:ext cx="2095500" cy="104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2X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8731001" y="4601319"/>
            <a:ext cx="2095500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功能疊代速度</a:t>
            </a:r>
            <a:endParaRPr/>
          </a:p>
        </p:txBody>
      </p:sp>
      <p:sp>
        <p:nvSpPr>
          <p:cNvPr id="158" name="Google Shape;158;p17"/>
          <p:cNvSpPr txBox="1"/>
          <p:nvPr/>
        </p:nvSpPr>
        <p:spPr>
          <a:xfrm>
            <a:off x="809625" y="982563"/>
            <a:ext cx="11351418" cy="71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Project "GAME1" 成效數據</a:t>
            </a:r>
            <a:endParaRPr/>
          </a:p>
        </p:txBody>
      </p:sp>
      <p:sp>
        <p:nvSpPr>
          <p:cNvPr id="159" name="Google Shape;159;p17"/>
          <p:cNvSpPr/>
          <p:nvPr/>
        </p:nvSpPr>
        <p:spPr>
          <a:xfrm>
            <a:off x="571500" y="982563"/>
            <a:ext cx="95250" cy="71437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47">
          <a:extLst>
            <a:ext uri="{FF2B5EF4-FFF2-40B4-BE49-F238E27FC236}">
              <a16:creationId xmlns:a16="http://schemas.microsoft.com/office/drawing/2014/main" id="{F781E25E-6E3F-E20D-E609-21871016C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CF7A4569-7E12-5620-3A84-3CE933107D2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3007" r="1" b="24853"/>
          <a:stretch>
            <a:fillRect/>
          </a:stretch>
        </p:blipFill>
        <p:spPr>
          <a:xfrm>
            <a:off x="4166504" y="10"/>
            <a:ext cx="8025495" cy="3067040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B6383744-EDE7-402D-D954-9249092F609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7391" r="-2" b="28665"/>
          <a:stretch>
            <a:fillRect/>
          </a:stretch>
        </p:blipFill>
        <p:spPr>
          <a:xfrm>
            <a:off x="20" y="3790950"/>
            <a:ext cx="8305780" cy="3067051"/>
          </a:xfrm>
          <a:prstGeom prst="rect">
            <a:avLst/>
          </a:prstGeom>
        </p:spPr>
      </p:pic>
      <p:sp>
        <p:nvSpPr>
          <p:cNvPr id="173" name="Freeform: Shape 172">
            <a:extLst>
              <a:ext uri="{FF2B5EF4-FFF2-40B4-BE49-F238E27FC236}">
                <a16:creationId xmlns:a16="http://schemas.microsoft.com/office/drawing/2014/main" id="{EA518CE4-E4D4-4D8A-980F-6D692AC969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472"/>
            <a:ext cx="5155454" cy="4845530"/>
          </a:xfrm>
          <a:custGeom>
            <a:avLst/>
            <a:gdLst>
              <a:gd name="connsiteX0" fmla="*/ 0 w 5155454"/>
              <a:gd name="connsiteY0" fmla="*/ 0 h 4845530"/>
              <a:gd name="connsiteX1" fmla="*/ 4766270 w 5155454"/>
              <a:gd name="connsiteY1" fmla="*/ 0 h 4845530"/>
              <a:gd name="connsiteX2" fmla="*/ 4896671 w 5155454"/>
              <a:gd name="connsiteY2" fmla="*/ 270697 h 4845530"/>
              <a:gd name="connsiteX3" fmla="*/ 5155454 w 5155454"/>
              <a:gd name="connsiteY3" fmla="*/ 1552495 h 4845530"/>
              <a:gd name="connsiteX4" fmla="*/ 1862419 w 5155454"/>
              <a:gd name="connsiteY4" fmla="*/ 4845530 h 4845530"/>
              <a:gd name="connsiteX5" fmla="*/ 21252 w 5155454"/>
              <a:gd name="connsiteY5" fmla="*/ 4283132 h 4845530"/>
              <a:gd name="connsiteX6" fmla="*/ 0 w 5155454"/>
              <a:gd name="connsiteY6" fmla="*/ 4267240 h 48455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55454" h="4845530">
                <a:moveTo>
                  <a:pt x="0" y="0"/>
                </a:moveTo>
                <a:lnTo>
                  <a:pt x="4766270" y="0"/>
                </a:lnTo>
                <a:lnTo>
                  <a:pt x="4896671" y="270697"/>
                </a:lnTo>
                <a:cubicBezTo>
                  <a:pt x="5063308" y="664671"/>
                  <a:pt x="5155454" y="1097822"/>
                  <a:pt x="5155454" y="1552495"/>
                </a:cubicBezTo>
                <a:cubicBezTo>
                  <a:pt x="5155454" y="3371188"/>
                  <a:pt x="3681112" y="4845530"/>
                  <a:pt x="1862419" y="4845530"/>
                </a:cubicBezTo>
                <a:cubicBezTo>
                  <a:pt x="1180409" y="4845530"/>
                  <a:pt x="546824" y="4638201"/>
                  <a:pt x="21252" y="4283132"/>
                </a:cubicBezTo>
                <a:lnTo>
                  <a:pt x="0" y="426724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DAAB4E7A-686E-FA3E-2B15-E9823D80DB3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8623" r="18380"/>
          <a:stretch>
            <a:fillRect/>
          </a:stretch>
        </p:blipFill>
        <p:spPr>
          <a:xfrm>
            <a:off x="1" y="1"/>
            <a:ext cx="5017099" cy="4718647"/>
          </a:xfrm>
          <a:custGeom>
            <a:avLst/>
            <a:gdLst/>
            <a:ahLst/>
            <a:cxnLst/>
            <a:rect l="l" t="t" r="r" b="b"/>
            <a:pathLst>
              <a:path w="5017099" h="4718647">
                <a:moveTo>
                  <a:pt x="0" y="0"/>
                </a:moveTo>
                <a:lnTo>
                  <a:pt x="4599738" y="0"/>
                </a:lnTo>
                <a:lnTo>
                  <a:pt x="4636346" y="60259"/>
                </a:lnTo>
                <a:cubicBezTo>
                  <a:pt x="4879170" y="507256"/>
                  <a:pt x="5017099" y="1019504"/>
                  <a:pt x="5017099" y="1563967"/>
                </a:cubicBezTo>
                <a:cubicBezTo>
                  <a:pt x="5017099" y="3306249"/>
                  <a:pt x="3604701" y="4718647"/>
                  <a:pt x="1862419" y="4718647"/>
                </a:cubicBezTo>
                <a:cubicBezTo>
                  <a:pt x="1209063" y="4718647"/>
                  <a:pt x="602098" y="4520029"/>
                  <a:pt x="98607" y="4179877"/>
                </a:cubicBezTo>
                <a:lnTo>
                  <a:pt x="0" y="4106140"/>
                </a:lnTo>
                <a:close/>
              </a:path>
            </a:pathLst>
          </a:custGeom>
        </p:spPr>
      </p:pic>
      <p:sp>
        <p:nvSpPr>
          <p:cNvPr id="175" name="Freeform: Shape 174">
            <a:extLst>
              <a:ext uri="{FF2B5EF4-FFF2-40B4-BE49-F238E27FC236}">
                <a16:creationId xmlns:a16="http://schemas.microsoft.com/office/drawing/2014/main" id="{F82BF3E2-EB0E-40D6-8835-2367A5316C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48480" y="1563968"/>
            <a:ext cx="6043520" cy="5294033"/>
          </a:xfrm>
          <a:custGeom>
            <a:avLst/>
            <a:gdLst>
              <a:gd name="connsiteX0" fmla="*/ 3600823 w 6043520"/>
              <a:gd name="connsiteY0" fmla="*/ 0 h 5294033"/>
              <a:gd name="connsiteX1" fmla="*/ 5891281 w 6043520"/>
              <a:gd name="connsiteY1" fmla="*/ 822253 h 5294033"/>
              <a:gd name="connsiteX2" fmla="*/ 6043520 w 6043520"/>
              <a:gd name="connsiteY2" fmla="*/ 960617 h 5294033"/>
              <a:gd name="connsiteX3" fmla="*/ 6043520 w 6043520"/>
              <a:gd name="connsiteY3" fmla="*/ 5294033 h 5294033"/>
              <a:gd name="connsiteX4" fmla="*/ 423445 w 6043520"/>
              <a:gd name="connsiteY4" fmla="*/ 5294033 h 5294033"/>
              <a:gd name="connsiteX5" fmla="*/ 282971 w 6043520"/>
              <a:gd name="connsiteY5" fmla="*/ 5002426 h 5294033"/>
              <a:gd name="connsiteX6" fmla="*/ 0 w 6043520"/>
              <a:gd name="connsiteY6" fmla="*/ 3600823 h 5294033"/>
              <a:gd name="connsiteX7" fmla="*/ 3600823 w 6043520"/>
              <a:gd name="connsiteY7" fmla="*/ 0 h 52940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043520" h="5294033">
                <a:moveTo>
                  <a:pt x="3600823" y="0"/>
                </a:moveTo>
                <a:cubicBezTo>
                  <a:pt x="4470871" y="0"/>
                  <a:pt x="5268847" y="308574"/>
                  <a:pt x="5891281" y="822253"/>
                </a:cubicBezTo>
                <a:lnTo>
                  <a:pt x="6043520" y="960617"/>
                </a:lnTo>
                <a:lnTo>
                  <a:pt x="6043520" y="5294033"/>
                </a:lnTo>
                <a:lnTo>
                  <a:pt x="423445" y="5294033"/>
                </a:lnTo>
                <a:lnTo>
                  <a:pt x="282971" y="5002426"/>
                </a:lnTo>
                <a:cubicBezTo>
                  <a:pt x="100759" y="4571630"/>
                  <a:pt x="0" y="4097993"/>
                  <a:pt x="0" y="3600823"/>
                </a:cubicBezTo>
                <a:cubicBezTo>
                  <a:pt x="0" y="1612143"/>
                  <a:pt x="1612143" y="0"/>
                  <a:pt x="360082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48" name="Google Shape;148;p17" descr="image.png">
            <a:extLst>
              <a:ext uri="{FF2B5EF4-FFF2-40B4-BE49-F238E27FC236}">
                <a16:creationId xmlns:a16="http://schemas.microsoft.com/office/drawing/2014/main" id="{82A34707-5783-E2C0-44B6-9EEFFCAB7B8B}"/>
              </a:ext>
            </a:extLst>
          </p:cNvPr>
          <p:cNvPicPr preferRelativeResize="0"/>
          <p:nvPr/>
        </p:nvPicPr>
        <p:blipFill rotWithShape="1">
          <a:blip r:embed="rId6"/>
          <a:srcRect l="17789" r="17789"/>
          <a:stretch>
            <a:fillRect/>
          </a:stretch>
        </p:blipFill>
        <p:spPr>
          <a:xfrm>
            <a:off x="6283728" y="1699214"/>
            <a:ext cx="5908273" cy="5158786"/>
          </a:xfrm>
          <a:custGeom>
            <a:avLst/>
            <a:gdLst/>
            <a:ahLst/>
            <a:cxnLst/>
            <a:rect l="l" t="t" r="r" b="b"/>
            <a:pathLst>
              <a:path w="5908273" h="5158786">
                <a:moveTo>
                  <a:pt x="3465576" y="0"/>
                </a:moveTo>
                <a:cubicBezTo>
                  <a:pt x="4302945" y="0"/>
                  <a:pt x="5070948" y="296984"/>
                  <a:pt x="5670004" y="791369"/>
                </a:cubicBezTo>
                <a:lnTo>
                  <a:pt x="5908273" y="1007923"/>
                </a:lnTo>
                <a:lnTo>
                  <a:pt x="5908273" y="5158786"/>
                </a:lnTo>
                <a:lnTo>
                  <a:pt x="443374" y="5158786"/>
                </a:lnTo>
                <a:lnTo>
                  <a:pt x="418277" y="5117476"/>
                </a:lnTo>
                <a:cubicBezTo>
                  <a:pt x="151523" y="4626427"/>
                  <a:pt x="0" y="4063697"/>
                  <a:pt x="0" y="3465576"/>
                </a:cubicBezTo>
                <a:cubicBezTo>
                  <a:pt x="0" y="1551591"/>
                  <a:pt x="1551591" y="0"/>
                  <a:pt x="3465576" y="0"/>
                </a:cubicBezTo>
                <a:close/>
              </a:path>
            </a:pathLst>
          </a:custGeom>
          <a:noFill/>
        </p:spPr>
      </p:pic>
      <p:sp>
        <p:nvSpPr>
          <p:cNvPr id="13" name="流程圖: 接點 12">
            <a:extLst>
              <a:ext uri="{FF2B5EF4-FFF2-40B4-BE49-F238E27FC236}">
                <a16:creationId xmlns:a16="http://schemas.microsoft.com/office/drawing/2014/main" id="{B4DE4BB4-C7E1-5AA1-1E87-302D3FDCB82F}"/>
              </a:ext>
            </a:extLst>
          </p:cNvPr>
          <p:cNvSpPr/>
          <p:nvPr/>
        </p:nvSpPr>
        <p:spPr>
          <a:xfrm>
            <a:off x="6283728" y="1738252"/>
            <a:ext cx="7036546" cy="6841068"/>
          </a:xfrm>
          <a:prstGeom prst="flowChartConnector">
            <a:avLst/>
          </a:prstGeom>
          <a:blipFill>
            <a:blip r:embed="rId7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7" name="Oval 176">
            <a:extLst>
              <a:ext uri="{FF2B5EF4-FFF2-40B4-BE49-F238E27FC236}">
                <a16:creationId xmlns:a16="http://schemas.microsoft.com/office/drawing/2014/main" id="{481E86DD-89E6-42B2-8675-84B7C56BFF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50534" y="1716727"/>
            <a:ext cx="4572000" cy="4572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631BB451-A2BC-592A-1131-BB4D5AE3CFC7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13871" r="28380" b="2"/>
          <a:stretch>
            <a:fillRect/>
          </a:stretch>
        </p:blipFill>
        <p:spPr>
          <a:xfrm>
            <a:off x="3287694" y="1853886"/>
            <a:ext cx="4297680" cy="4297680"/>
          </a:xfrm>
          <a:custGeom>
            <a:avLst/>
            <a:gdLst/>
            <a:ahLst/>
            <a:cxnLst/>
            <a:rect l="l" t="t" r="r" b="b"/>
            <a:pathLst>
              <a:path w="4297680" h="4297680">
                <a:moveTo>
                  <a:pt x="2148840" y="0"/>
                </a:moveTo>
                <a:cubicBezTo>
                  <a:pt x="3335612" y="0"/>
                  <a:pt x="4297680" y="962068"/>
                  <a:pt x="4297680" y="2148840"/>
                </a:cubicBezTo>
                <a:cubicBezTo>
                  <a:pt x="4297680" y="3335612"/>
                  <a:pt x="3335612" y="4297680"/>
                  <a:pt x="2148840" y="4297680"/>
                </a:cubicBezTo>
                <a:cubicBezTo>
                  <a:pt x="962068" y="4297680"/>
                  <a:pt x="0" y="3335612"/>
                  <a:pt x="0" y="2148840"/>
                </a:cubicBezTo>
                <a:cubicBezTo>
                  <a:pt x="0" y="962068"/>
                  <a:pt x="962068" y="0"/>
                  <a:pt x="2148840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1983829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8"/>
          <p:cNvSpPr txBox="1"/>
          <p:nvPr/>
        </p:nvSpPr>
        <p:spPr>
          <a:xfrm>
            <a:off x="295275" y="571500"/>
            <a:ext cx="11601450" cy="9371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1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感謝聆聽</a:t>
            </a:r>
            <a:endParaRPr/>
          </a:p>
        </p:txBody>
      </p:sp>
      <p:sp>
        <p:nvSpPr>
          <p:cNvPr id="167" name="Google Shape;167;p18"/>
          <p:cNvSpPr txBox="1"/>
          <p:nvPr/>
        </p:nvSpPr>
        <p:spPr>
          <a:xfrm>
            <a:off x="571500" y="1699170"/>
            <a:ext cx="1104900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DAFFDE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探索 AI 與遊戲創意的無限可能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100</Words>
  <Application>Microsoft Office PowerPoint</Application>
  <PresentationFormat>寬螢幕</PresentationFormat>
  <Paragraphs>33</Paragraphs>
  <Slides>7</Slides>
  <Notes>7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13" baseType="lpstr">
      <vt:lpstr>Urbanist</vt:lpstr>
      <vt:lpstr>Urbanist Medium</vt:lpstr>
      <vt:lpstr>Calibri</vt:lpstr>
      <vt:lpstr>Arial</vt:lpstr>
      <vt:lpstr>Urbanist Light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瑋誠誠 謝</cp:lastModifiedBy>
  <cp:revision>2</cp:revision>
  <dcterms:modified xsi:type="dcterms:W3CDTF">2026-04-13T11:13:13Z</dcterms:modified>
</cp:coreProperties>
</file>